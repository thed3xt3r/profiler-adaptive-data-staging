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4" r:id="rId3"/>
    <p:sldId id="265" r:id="rId4"/>
    <p:sldId id="266" r:id="rId5"/>
    <p:sldId id="269" r:id="rId6"/>
    <p:sldId id="267" r:id="rId7"/>
    <p:sldId id="268" r:id="rId8"/>
    <p:sldId id="270" r:id="rId9"/>
    <p:sldId id="261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4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6193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7E474-7981-3D4A-E07A-70F8E503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67D027-166F-ED8C-1D70-759D3FD266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6623DE-760A-287A-8FD6-31D4FB43C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6D522-DB49-9B1A-370F-7F8680651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815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77240" y="64008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GPU-</a:t>
            </a:r>
            <a:r>
              <a:rPr lang="en-US" sz="36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Optimised</a:t>
            </a: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Semantic Segmentation of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Mesopotamian Tell Sites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 Adaptive Data staging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926080"/>
            <a:ext cx="8046720" cy="27432"/>
          </a:xfrm>
          <a:prstGeom prst="rect">
            <a:avLst/>
          </a:prstGeom>
          <a:solidFill>
            <a:srgbClr val="4A6070"/>
          </a:solidFill>
          <a:ln w="12700">
            <a:solidFill>
              <a:srgbClr val="4A60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High Performance Computing  |  University of Luxembourg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Meeting  |  9</a:t>
            </a:r>
            <a:r>
              <a:rPr lang="en-US" sz="1300" baseline="300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300" dirty="0">
                <a:solidFill>
                  <a:srgbClr val="A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June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4507992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Nabeel Ahsan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0DDC63-88A3-280A-C4D6-83E29C19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405F5E4-791A-7EE2-E5E6-9D84E489F608}"/>
              </a:ext>
            </a:extLst>
          </p:cNvPr>
          <p:cNvGrpSpPr/>
          <p:nvPr/>
        </p:nvGrpSpPr>
        <p:grpSpPr>
          <a:xfrm>
            <a:off x="6654987" y="1333196"/>
            <a:ext cx="2350400" cy="3383280"/>
            <a:chOff x="5474980" y="1344168"/>
            <a:chExt cx="2990088" cy="3383280"/>
          </a:xfrm>
        </p:grpSpPr>
        <p:sp>
          <p:nvSpPr>
            <p:cNvPr id="35" name="Shape 9">
              <a:extLst>
                <a:ext uri="{FF2B5EF4-FFF2-40B4-BE49-F238E27FC236}">
                  <a16:creationId xmlns:a16="http://schemas.microsoft.com/office/drawing/2014/main" id="{6117587D-9356-6214-85B5-7EA89DEB4CC6}"/>
                </a:ext>
              </a:extLst>
            </p:cNvPr>
            <p:cNvSpPr/>
            <p:nvPr/>
          </p:nvSpPr>
          <p:spPr>
            <a:xfrm>
              <a:off x="5474980" y="1344168"/>
              <a:ext cx="2990088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Shape 10">
              <a:extLst>
                <a:ext uri="{FF2B5EF4-FFF2-40B4-BE49-F238E27FC236}">
                  <a16:creationId xmlns:a16="http://schemas.microsoft.com/office/drawing/2014/main" id="{B91DB5BE-569F-8C80-601F-A5E88668189D}"/>
                </a:ext>
              </a:extLst>
            </p:cNvPr>
            <p:cNvSpPr/>
            <p:nvPr/>
          </p:nvSpPr>
          <p:spPr>
            <a:xfrm>
              <a:off x="5486478" y="1344168"/>
              <a:ext cx="2978589" cy="411480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</p:spPr>
          <p:txBody>
            <a:bodyPr/>
            <a:lstStyle/>
            <a:p>
              <a:r>
                <a:rPr lang="en-IN" sz="1600" dirty="0" err="1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SegFormer</a:t>
              </a:r>
              <a:endPara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2" name="Shape 0">
            <a:extLst>
              <a:ext uri="{FF2B5EF4-FFF2-40B4-BE49-F238E27FC236}">
                <a16:creationId xmlns:a16="http://schemas.microsoft.com/office/drawing/2014/main" id="{855AC40F-ED2B-158D-365A-B434D462A094}"/>
              </a:ext>
            </a:extLst>
          </p:cNvPr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160E15E-B165-2466-44A8-19F9C63002A8}"/>
              </a:ext>
            </a:extLst>
          </p:cNvPr>
          <p:cNvSpPr/>
          <p:nvPr/>
        </p:nvSpPr>
        <p:spPr>
          <a:xfrm rot="16200000">
            <a:off x="-1737360" y="2103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919C24A-9610-F84F-646C-80CCB0B929EC}"/>
              </a:ext>
            </a:extLst>
          </p:cNvPr>
          <p:cNvSpPr/>
          <p:nvPr/>
        </p:nvSpPr>
        <p:spPr>
          <a:xfrm>
            <a:off x="502920" y="87476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Overview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0376BA-4A27-971F-75B4-273B935ACD6F}"/>
              </a:ext>
            </a:extLst>
          </p:cNvPr>
          <p:cNvSpPr/>
          <p:nvPr/>
        </p:nvSpPr>
        <p:spPr>
          <a:xfrm>
            <a:off x="411480" y="704374"/>
            <a:ext cx="8321040" cy="1828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5BF83AC-FB73-9E77-243C-74A145F20F36}"/>
              </a:ext>
            </a:extLst>
          </p:cNvPr>
          <p:cNvSpPr/>
          <p:nvPr/>
        </p:nvSpPr>
        <p:spPr>
          <a:xfrm>
            <a:off x="502920" y="10241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C008111-6DAA-A7F9-3506-CB03CAC8CE7B}"/>
              </a:ext>
            </a:extLst>
          </p:cNvPr>
          <p:cNvSpPr/>
          <p:nvPr/>
        </p:nvSpPr>
        <p:spPr>
          <a:xfrm>
            <a:off x="312034" y="1903816"/>
            <a:ext cx="1426503" cy="282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Trainable parameters</a:t>
            </a:r>
          </a:p>
          <a:p>
            <a:pPr algn="ctr"/>
            <a:endParaRPr lang="en-US" sz="12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size (MB)</a:t>
            </a:r>
          </a:p>
          <a:p>
            <a:pPr algn="ctr"/>
            <a:endParaRPr lang="en-US" sz="12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IoU</a:t>
            </a:r>
            <a:endParaRPr lang="en-US" sz="12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12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</a:p>
          <a:p>
            <a:pPr algn="ctr"/>
            <a:endParaRPr lang="en-US" sz="12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</a:p>
          <a:p>
            <a:pPr algn="ctr"/>
            <a:endParaRPr lang="en-US" sz="12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CPU time (s)</a:t>
            </a:r>
          </a:p>
          <a:p>
            <a:pPr algn="ctr"/>
            <a:endParaRPr lang="en-US" sz="1200" b="1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GPU time (</a:t>
            </a:r>
            <a:r>
              <a:rPr lang="en-US" sz="12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algn="ctr"/>
            <a:endParaRPr lang="en-US" sz="12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4D8DD2-ED49-DF38-3AB2-C53C6ACF3374}"/>
              </a:ext>
            </a:extLst>
          </p:cNvPr>
          <p:cNvGrpSpPr/>
          <p:nvPr/>
        </p:nvGrpSpPr>
        <p:grpSpPr>
          <a:xfrm>
            <a:off x="4250173" y="1344168"/>
            <a:ext cx="2350400" cy="3383280"/>
            <a:chOff x="5474980" y="1344168"/>
            <a:chExt cx="2990088" cy="3383280"/>
          </a:xfrm>
        </p:grpSpPr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68AE65FD-D09C-399E-549B-05E92BAB9FB5}"/>
                </a:ext>
              </a:extLst>
            </p:cNvPr>
            <p:cNvSpPr/>
            <p:nvPr/>
          </p:nvSpPr>
          <p:spPr>
            <a:xfrm>
              <a:off x="5474980" y="1344168"/>
              <a:ext cx="2990088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Shape 10">
              <a:extLst>
                <a:ext uri="{FF2B5EF4-FFF2-40B4-BE49-F238E27FC236}">
                  <a16:creationId xmlns:a16="http://schemas.microsoft.com/office/drawing/2014/main" id="{DC8F0F89-8F83-22A7-98F5-299CE6B0B2B3}"/>
                </a:ext>
              </a:extLst>
            </p:cNvPr>
            <p:cNvSpPr/>
            <p:nvPr/>
          </p:nvSpPr>
          <p:spPr>
            <a:xfrm>
              <a:off x="5486478" y="1344168"/>
              <a:ext cx="2978589" cy="411480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</p:spPr>
          <p:txBody>
            <a:bodyPr/>
            <a:lstStyle/>
            <a:p>
              <a:r>
                <a:rPr lang="en-IN" sz="16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DeepLabV3+</a:t>
              </a:r>
              <a:endPara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13" name="Text 11">
            <a:extLst>
              <a:ext uri="{FF2B5EF4-FFF2-40B4-BE49-F238E27FC236}">
                <a16:creationId xmlns:a16="http://schemas.microsoft.com/office/drawing/2014/main" id="{BBCD80CE-D983-CE1E-FB68-153F145A4B4D}"/>
              </a:ext>
            </a:extLst>
          </p:cNvPr>
          <p:cNvSpPr/>
          <p:nvPr/>
        </p:nvSpPr>
        <p:spPr>
          <a:xfrm>
            <a:off x="5330952" y="1344168"/>
            <a:ext cx="264018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6FE30A9-B79B-471A-EBB8-30EDFEFA0C3D}"/>
              </a:ext>
            </a:extLst>
          </p:cNvPr>
          <p:cNvGrpSpPr/>
          <p:nvPr/>
        </p:nvGrpSpPr>
        <p:grpSpPr>
          <a:xfrm>
            <a:off x="1854055" y="1344168"/>
            <a:ext cx="2350400" cy="3383280"/>
            <a:chOff x="5474980" y="1344168"/>
            <a:chExt cx="2990088" cy="3383280"/>
          </a:xfrm>
        </p:grpSpPr>
        <p:sp>
          <p:nvSpPr>
            <p:cNvPr id="18" name="Shape 9">
              <a:extLst>
                <a:ext uri="{FF2B5EF4-FFF2-40B4-BE49-F238E27FC236}">
                  <a16:creationId xmlns:a16="http://schemas.microsoft.com/office/drawing/2014/main" id="{1A35257F-5979-30B4-C023-648C0A219025}"/>
                </a:ext>
              </a:extLst>
            </p:cNvPr>
            <p:cNvSpPr/>
            <p:nvPr/>
          </p:nvSpPr>
          <p:spPr>
            <a:xfrm>
              <a:off x="5474980" y="1344168"/>
              <a:ext cx="2990088" cy="338328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8E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9C3B93A7-6989-747B-FE10-2A9EAEF2AA02}"/>
                </a:ext>
              </a:extLst>
            </p:cNvPr>
            <p:cNvSpPr/>
            <p:nvPr/>
          </p:nvSpPr>
          <p:spPr>
            <a:xfrm>
              <a:off x="5486478" y="1344168"/>
              <a:ext cx="2978589" cy="411480"/>
            </a:xfrm>
            <a:prstGeom prst="rect">
              <a:avLst/>
            </a:prstGeom>
            <a:solidFill>
              <a:srgbClr val="1C2B3A"/>
            </a:solidFill>
            <a:ln w="12700">
              <a:solidFill>
                <a:srgbClr val="1C2B3A"/>
              </a:solidFill>
              <a:prstDash val="solid"/>
            </a:ln>
          </p:spPr>
          <p:txBody>
            <a:bodyPr/>
            <a:lstStyle/>
            <a:p>
              <a:r>
                <a:rPr lang="en-IN" sz="16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MA-Net</a:t>
              </a:r>
              <a:endParaRPr lang="en-IN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7" name="Text 7">
            <a:extLst>
              <a:ext uri="{FF2B5EF4-FFF2-40B4-BE49-F238E27FC236}">
                <a16:creationId xmlns:a16="http://schemas.microsoft.com/office/drawing/2014/main" id="{01038C6D-0A07-51AD-520A-1BF1E37D678A}"/>
              </a:ext>
            </a:extLst>
          </p:cNvPr>
          <p:cNvSpPr/>
          <p:nvPr/>
        </p:nvSpPr>
        <p:spPr>
          <a:xfrm>
            <a:off x="7116261" y="1828435"/>
            <a:ext cx="1426503" cy="302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3.7 Million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3.922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416.305</a:t>
            </a:r>
          </a:p>
          <a:p>
            <a:pPr algn="ctr"/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1A212B0F-02D1-F339-C26A-F71C45470AC6}"/>
              </a:ext>
            </a:extLst>
          </p:cNvPr>
          <p:cNvSpPr/>
          <p:nvPr/>
        </p:nvSpPr>
        <p:spPr>
          <a:xfrm>
            <a:off x="4617700" y="1976037"/>
            <a:ext cx="1426503" cy="2823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26.7 Million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106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35.9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4.639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830.446</a:t>
            </a:r>
          </a:p>
          <a:p>
            <a:pPr algn="ctr"/>
            <a:endParaRPr lang="en-US" sz="1200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388529C-B4D4-2FBC-39A5-21E2C02F2425}"/>
              </a:ext>
            </a:extLst>
          </p:cNvPr>
          <p:cNvCxnSpPr>
            <a:cxnSpLocks/>
          </p:cNvCxnSpPr>
          <p:nvPr/>
        </p:nvCxnSpPr>
        <p:spPr>
          <a:xfrm>
            <a:off x="235468" y="2348792"/>
            <a:ext cx="8775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619DA409-7156-2D34-043A-117C1FBF2498}"/>
              </a:ext>
            </a:extLst>
          </p:cNvPr>
          <p:cNvCxnSpPr>
            <a:cxnSpLocks/>
          </p:cNvCxnSpPr>
          <p:nvPr/>
        </p:nvCxnSpPr>
        <p:spPr>
          <a:xfrm>
            <a:off x="235468" y="2713113"/>
            <a:ext cx="8775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16E4A19-7F88-58F1-40A8-7A889DBDFDAA}"/>
              </a:ext>
            </a:extLst>
          </p:cNvPr>
          <p:cNvCxnSpPr>
            <a:cxnSpLocks/>
          </p:cNvCxnSpPr>
          <p:nvPr/>
        </p:nvCxnSpPr>
        <p:spPr>
          <a:xfrm>
            <a:off x="235468" y="3073510"/>
            <a:ext cx="8775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3E8A800-7313-FC68-39D7-3B0276B8E2F4}"/>
              </a:ext>
            </a:extLst>
          </p:cNvPr>
          <p:cNvCxnSpPr>
            <a:cxnSpLocks/>
          </p:cNvCxnSpPr>
          <p:nvPr/>
        </p:nvCxnSpPr>
        <p:spPr>
          <a:xfrm>
            <a:off x="235468" y="3461378"/>
            <a:ext cx="8775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5A314C3-C4D9-899F-F3C0-C3727728AF99}"/>
              </a:ext>
            </a:extLst>
          </p:cNvPr>
          <p:cNvCxnSpPr>
            <a:cxnSpLocks/>
          </p:cNvCxnSpPr>
          <p:nvPr/>
        </p:nvCxnSpPr>
        <p:spPr>
          <a:xfrm>
            <a:off x="241269" y="3821774"/>
            <a:ext cx="8775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5BEB23C-4955-08F1-7EF9-264550627558}"/>
              </a:ext>
            </a:extLst>
          </p:cNvPr>
          <p:cNvCxnSpPr>
            <a:cxnSpLocks/>
          </p:cNvCxnSpPr>
          <p:nvPr/>
        </p:nvCxnSpPr>
        <p:spPr>
          <a:xfrm>
            <a:off x="230013" y="4186096"/>
            <a:ext cx="877537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 4">
            <a:extLst>
              <a:ext uri="{FF2B5EF4-FFF2-40B4-BE49-F238E27FC236}">
                <a16:creationId xmlns:a16="http://schemas.microsoft.com/office/drawing/2014/main" id="{EDEE2343-E735-38A3-CE1D-91B99361508E}"/>
              </a:ext>
            </a:extLst>
          </p:cNvPr>
          <p:cNvSpPr/>
          <p:nvPr/>
        </p:nvSpPr>
        <p:spPr>
          <a:xfrm>
            <a:off x="502920" y="729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 training (Bing_1k dataset)</a:t>
            </a:r>
            <a:endParaRPr lang="en-US" sz="12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1449A4B-C267-4292-5B87-25EE2DAB2784}"/>
              </a:ext>
            </a:extLst>
          </p:cNvPr>
          <p:cNvSpPr/>
          <p:nvPr/>
        </p:nvSpPr>
        <p:spPr>
          <a:xfrm>
            <a:off x="2316003" y="1836244"/>
            <a:ext cx="1426503" cy="3021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17.2 Million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68 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4.512</a:t>
            </a:r>
          </a:p>
          <a:p>
            <a:pPr algn="ctr"/>
            <a:endParaRPr lang="en-US" sz="1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644.360</a:t>
            </a:r>
          </a:p>
          <a:p>
            <a:pPr algn="ctr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196948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8457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/>
              </a:rPr>
              <a:t>Why DataLoading Matters on HPC</a:t>
            </a:r>
          </a:p>
        </p:txBody>
      </p:sp>
      <p:sp>
        <p:nvSpPr>
          <p:cNvPr id="4" name="Divider"/>
          <p:cNvSpPr/>
          <p:nvPr/>
        </p:nvSpPr>
        <p:spPr>
          <a:xfrm>
            <a:off x="457200" y="822960"/>
            <a:ext cx="8457600" cy="2743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LeftCol"/>
          <p:cNvSpPr/>
          <p:nvPr/>
        </p:nvSpPr>
        <p:spPr>
          <a:xfrm>
            <a:off x="457200" y="914400"/>
            <a:ext cx="4000000" cy="2918968"/>
          </a:xfrm>
          <a:prstGeom prst="rect">
            <a:avLst/>
          </a:prstGeom>
          <a:solidFill>
            <a:srgbClr val="F4F7F9"/>
          </a:solidFill>
          <a:ln w="19050">
            <a:solidFill>
              <a:srgbClr val="C4922A"/>
            </a:solidFill>
          </a:ln>
        </p:spPr>
        <p:txBody>
          <a:bodyPr wrap="square" lIns="228600" tIns="228600" rIns="228600" bIns="22860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4922A"/>
                </a:solidFill>
                <a:latin typeface="Cambria"/>
              </a:rPr>
              <a:t>Profiler Findings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4A6070"/>
                </a:solidFill>
                <a:latin typeface="Calibri"/>
              </a:rPr>
              <a:t> </a:t>
            </a:r>
          </a:p>
          <a:p>
            <a:pPr marL="228600" indent="-228600">
              <a:buChar char="■"/>
            </a:pPr>
            <a:r>
              <a:rPr lang="en-US" sz="1300" b="1" dirty="0">
                <a:solidFill>
                  <a:srgbClr val="1C2B3A"/>
                </a:solidFill>
                <a:latin typeface="Calibri"/>
              </a:rPr>
              <a:t>GPU starvation detected</a:t>
            </a:r>
            <a:r>
              <a:rPr lang="en-US" sz="1300" dirty="0">
                <a:solidFill>
                  <a:srgbClr val="4A6070"/>
                </a:solidFill>
                <a:latin typeface="Calibri"/>
              </a:rPr>
              <a:t>: with num_workers=0, V100 sits idle between batches</a:t>
            </a:r>
          </a:p>
          <a:p>
            <a:pPr marL="228600" indent="-228600">
              <a:buChar char="■"/>
            </a:pPr>
            <a:r>
              <a:rPr lang="en-US" sz="1300" b="1" dirty="0">
                <a:solidFill>
                  <a:srgbClr val="1C2B3A"/>
                </a:solidFill>
                <a:latin typeface="Calibri"/>
              </a:rPr>
              <a:t>Shared filesystem pressure</a:t>
            </a:r>
            <a:r>
              <a:rPr lang="en-US" sz="1300" b="1" dirty="0">
                <a:solidFill>
                  <a:srgbClr val="4A6070"/>
                </a:solidFill>
                <a:latin typeface="Calibri"/>
              </a:rPr>
              <a:t>: </a:t>
            </a:r>
            <a:r>
              <a:rPr lang="en-US" sz="1300" dirty="0">
                <a:solidFill>
                  <a:srgbClr val="4A6070"/>
                </a:solidFill>
                <a:latin typeface="Calibri"/>
              </a:rPr>
              <a:t>thousands of small image/mask files cause high metadata overhead on Iris GPFS</a:t>
            </a:r>
          </a:p>
          <a:p>
            <a:pPr marL="228600" indent="-228600">
              <a:buChar char="■"/>
            </a:pPr>
            <a:r>
              <a:rPr lang="en-US" sz="1300" b="1" dirty="0">
                <a:solidFill>
                  <a:srgbClr val="1C2B3A"/>
                </a:solidFill>
                <a:latin typeface="Calibri"/>
              </a:rPr>
              <a:t>Static configuration</a:t>
            </a:r>
            <a:r>
              <a:rPr lang="en-US" sz="1300" b="1" dirty="0">
                <a:solidFill>
                  <a:srgbClr val="4A6070"/>
                </a:solidFill>
                <a:latin typeface="Calibri"/>
              </a:rPr>
              <a:t>: </a:t>
            </a:r>
            <a:r>
              <a:rPr lang="en-US" sz="1300" dirty="0" err="1">
                <a:solidFill>
                  <a:srgbClr val="4A6070"/>
                </a:solidFill>
                <a:latin typeface="Calibri"/>
              </a:rPr>
              <a:t>num_workers</a:t>
            </a:r>
            <a:r>
              <a:rPr lang="en-US" sz="1300" dirty="0">
                <a:solidFill>
                  <a:srgbClr val="4A6070"/>
                </a:solidFill>
                <a:latin typeface="Calibri"/>
              </a:rPr>
              <a:t>, prefetch_factor, pin_memory are set once and never adapt to the actual bottleneck</a:t>
            </a:r>
          </a:p>
          <a:p>
            <a:pPr marL="228600" indent="-228600">
              <a:buChar char="■"/>
            </a:pPr>
            <a:r>
              <a:rPr lang="en-US" sz="1300" b="1" dirty="0">
                <a:solidFill>
                  <a:srgbClr val="1C2B3A"/>
                </a:solidFill>
                <a:latin typeface="Calibri"/>
              </a:rPr>
              <a:t>Tile inference is deterministic</a:t>
            </a:r>
            <a:r>
              <a:rPr lang="en-US" sz="1300" b="1" dirty="0">
                <a:solidFill>
                  <a:srgbClr val="4A6070"/>
                </a:solidFill>
                <a:latin typeface="Calibri"/>
              </a:rPr>
              <a:t>: </a:t>
            </a:r>
            <a:r>
              <a:rPr lang="en-US" sz="1300" dirty="0">
                <a:solidFill>
                  <a:srgbClr val="4A6070"/>
                </a:solidFill>
                <a:latin typeface="Calibri"/>
              </a:rPr>
              <a:t>future data access is predictable, enabling proactive prefetching</a:t>
            </a:r>
          </a:p>
        </p:txBody>
      </p:sp>
      <p:sp>
        <p:nvSpPr>
          <p:cNvPr id="6" name="RightCol"/>
          <p:cNvSpPr/>
          <p:nvPr/>
        </p:nvSpPr>
        <p:spPr>
          <a:xfrm>
            <a:off x="4685800" y="914400"/>
            <a:ext cx="3886200" cy="36576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wrap="square" lIns="274638" tIns="274638" rIns="274638" bIns="274638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8C97A"/>
                </a:solidFill>
                <a:latin typeface="Cambria"/>
              </a:rPr>
              <a:t>Research Question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0B8C8"/>
                </a:solidFill>
                <a:latin typeface="Calibri"/>
              </a:rPr>
              <a:t> </a:t>
            </a:r>
          </a:p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/>
              </a:rPr>
              <a:t>Can a profiler-adaptive DataLoader that combines bottleneck classification, tar-shard staging, and predictive prefetching improve GPU utilisation and tile throughput for large-scale satellite-image segmentation on HPC systems?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A0B8C8"/>
                </a:solidFill>
                <a:latin typeface="Calibri"/>
              </a:rPr>
              <a:t> </a:t>
            </a:r>
          </a:p>
          <a:p>
            <a:pPr marL="228600" indent="-228600">
              <a:buChar char="—"/>
            </a:pPr>
            <a:r>
              <a:rPr lang="en-US" sz="1200" dirty="0">
                <a:solidFill>
                  <a:srgbClr val="A0B8C8"/>
                </a:solidFill>
                <a:latin typeface="Calibri"/>
              </a:rPr>
              <a:t>When does the DataLoader become the bottleneck on Iris GPFS?</a:t>
            </a:r>
          </a:p>
          <a:p>
            <a:pPr marL="228600" indent="-228600">
              <a:buChar char="—"/>
            </a:pPr>
            <a:r>
              <a:rPr lang="en-US" sz="1200" dirty="0">
                <a:solidFill>
                  <a:srgbClr val="A0B8C8"/>
                </a:solidFill>
                <a:latin typeface="Calibri"/>
              </a:rPr>
              <a:t>Do tar shards reduce many-small-file overhead?</a:t>
            </a:r>
          </a:p>
          <a:p>
            <a:pPr marL="228600" indent="-228600">
              <a:buChar char="—"/>
            </a:pPr>
            <a:r>
              <a:rPr lang="en-US" sz="1200" dirty="0">
                <a:solidFill>
                  <a:srgbClr val="A0B8C8"/>
                </a:solidFill>
                <a:latin typeface="Calibri"/>
              </a:rPr>
              <a:t>Does predictive scratch staging outperform fixed WebDataset streaming?</a:t>
            </a:r>
          </a:p>
          <a:p>
            <a:pPr marL="228600" indent="-228600">
              <a:buChar char="—"/>
            </a:pPr>
            <a:r>
              <a:rPr lang="en-US" sz="1200" dirty="0">
                <a:solidFill>
                  <a:srgbClr val="A0B8C8"/>
                </a:solidFill>
                <a:latin typeface="Calibri"/>
              </a:rPr>
              <a:t>Can prefetch depth be auto-tuned from measured timings?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E878E-A8C7-1433-803F-03E524F41951}"/>
              </a:ext>
            </a:extLst>
          </p:cNvPr>
          <p:cNvSpPr txBox="1"/>
          <p:nvPr/>
        </p:nvSpPr>
        <p:spPr>
          <a:xfrm>
            <a:off x="368300" y="3840109"/>
            <a:ext cx="42037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Char char="■"/>
            </a:pPr>
            <a:r>
              <a:rPr lang="en-IN" sz="900" b="1" dirty="0" err="1">
                <a:solidFill>
                  <a:srgbClr val="1C2B3A"/>
                </a:solidFill>
                <a:latin typeface="Calibri"/>
              </a:rPr>
              <a:t>pin_memory</a:t>
            </a:r>
            <a:r>
              <a:rPr lang="en-IN" sz="900" b="1" dirty="0">
                <a:solidFill>
                  <a:srgbClr val="1C2B3A"/>
                </a:solidFill>
                <a:latin typeface="Calibri"/>
              </a:rPr>
              <a:t>=True stores </a:t>
            </a:r>
            <a:r>
              <a:rPr lang="en-IN" sz="900" b="1" dirty="0" err="1">
                <a:solidFill>
                  <a:srgbClr val="1C2B3A"/>
                </a:solidFill>
                <a:latin typeface="Calibri"/>
              </a:rPr>
              <a:t>DataLoader</a:t>
            </a:r>
            <a:r>
              <a:rPr lang="en-IN" sz="900" b="1" dirty="0">
                <a:solidFill>
                  <a:srgbClr val="1C2B3A"/>
                </a:solidFill>
                <a:latin typeface="Calibri"/>
              </a:rPr>
              <a:t> batches in page-locked CPU memory, allowing faster and potentially asynchronous CPU-to-GPU transfer. In PADS-Loader, it is selected when profiling shows that host-to-device transfer contributes significantly to batch time.</a:t>
            </a:r>
          </a:p>
          <a:p>
            <a:pPr marL="228600" indent="-228600">
              <a:buChar char="■"/>
            </a:pPr>
            <a:r>
              <a:rPr lang="en-IN" sz="900" b="1" dirty="0" err="1">
                <a:solidFill>
                  <a:srgbClr val="1C2B3A"/>
                </a:solidFill>
                <a:latin typeface="Calibri"/>
              </a:rPr>
              <a:t>Prefetch_factor</a:t>
            </a:r>
            <a:r>
              <a:rPr lang="en-IN" sz="900" b="1" dirty="0">
                <a:solidFill>
                  <a:srgbClr val="1C2B3A"/>
                </a:solidFill>
                <a:latin typeface="Calibri"/>
              </a:rPr>
              <a:t>: How far ahead the </a:t>
            </a:r>
            <a:r>
              <a:rPr lang="en-IN" sz="900" b="1" dirty="0" err="1">
                <a:solidFill>
                  <a:srgbClr val="1C2B3A"/>
                </a:solidFill>
                <a:latin typeface="Calibri"/>
              </a:rPr>
              <a:t>DataLoader</a:t>
            </a:r>
            <a:r>
              <a:rPr lang="en-IN" sz="900" b="1" dirty="0">
                <a:solidFill>
                  <a:srgbClr val="1C2B3A"/>
                </a:solidFill>
                <a:latin typeface="Calibri"/>
              </a:rPr>
              <a:t> prepares future data before the GPU actually needs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8457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/>
              </a:rPr>
              <a:t>PADS-Loader: Proposed Method</a:t>
            </a:r>
          </a:p>
        </p:txBody>
      </p:sp>
      <p:sp>
        <p:nvSpPr>
          <p:cNvPr id="4" name="Divider"/>
          <p:cNvSpPr/>
          <p:nvPr/>
        </p:nvSpPr>
        <p:spPr>
          <a:xfrm>
            <a:off x="457200" y="822960"/>
            <a:ext cx="8457600" cy="2743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/>
          <p:nvPr/>
        </p:nvSpPr>
        <p:spPr>
          <a:xfrm>
            <a:off x="457200" y="868680"/>
            <a:ext cx="845760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6070"/>
                </a:solidFill>
                <a:latin typeface="Calibri"/>
              </a:rPr>
              <a:t>Profiler-Adaptive Data Staging for PyTorch segmentation on HPC</a:t>
            </a:r>
          </a:p>
        </p:txBody>
      </p:sp>
      <p:sp>
        <p:nvSpPr>
          <p:cNvPr id="10" name="Step1Box"/>
          <p:cNvSpPr/>
          <p:nvPr/>
        </p:nvSpPr>
        <p:spPr>
          <a:xfrm>
            <a:off x="457200" y="1280160"/>
            <a:ext cx="1600200" cy="6858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/>
              </a:rPr>
              <a:t>1. WARM-UP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/>
              </a:rPr>
              <a:t>PROFILING</a:t>
            </a:r>
          </a:p>
          <a:p>
            <a:pPr algn="ctr">
              <a:buNone/>
            </a:pPr>
            <a:r>
              <a:rPr lang="en-US" sz="1000" dirty="0">
                <a:solidFill>
                  <a:srgbClr val="A0B8C8"/>
                </a:solidFill>
                <a:latin typeface="Calibri"/>
              </a:rPr>
              <a:t>50-100 batches</a:t>
            </a:r>
          </a:p>
        </p:txBody>
      </p:sp>
      <p:sp>
        <p:nvSpPr>
          <p:cNvPr id="11" name="Arrow1"/>
          <p:cNvSpPr/>
          <p:nvPr/>
        </p:nvSpPr>
        <p:spPr>
          <a:xfrm>
            <a:off x="2100960" y="1555560"/>
            <a:ext cx="228600" cy="137160"/>
          </a:xfrm>
          <a:prstGeom prst="rightArrow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Step2Box"/>
          <p:cNvSpPr/>
          <p:nvPr/>
        </p:nvSpPr>
        <p:spPr>
          <a:xfrm>
            <a:off x="2377440" y="1280160"/>
            <a:ext cx="1600200" cy="6858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/>
              </a:rPr>
              <a:t>2. BOTTLENECK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/>
              </a:rPr>
              <a:t>CLASSIFICATION</a:t>
            </a:r>
          </a:p>
          <a:p>
            <a:pPr algn="ctr">
              <a:buNone/>
            </a:pPr>
            <a:r>
              <a:rPr lang="en-US" sz="1000" dirty="0">
                <a:solidFill>
                  <a:srgbClr val="A0B8C8"/>
                </a:solidFill>
                <a:latin typeface="Calibri"/>
              </a:rPr>
              <a:t>I/O, decode, H2D, compute</a:t>
            </a:r>
          </a:p>
        </p:txBody>
      </p:sp>
      <p:sp>
        <p:nvSpPr>
          <p:cNvPr id="13" name="Arrow2"/>
          <p:cNvSpPr/>
          <p:nvPr/>
        </p:nvSpPr>
        <p:spPr>
          <a:xfrm>
            <a:off x="4021200" y="1555560"/>
            <a:ext cx="228600" cy="137160"/>
          </a:xfrm>
          <a:prstGeom prst="rightArrow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Step3Box"/>
          <p:cNvSpPr/>
          <p:nvPr/>
        </p:nvSpPr>
        <p:spPr>
          <a:xfrm>
            <a:off x="4297680" y="1280160"/>
            <a:ext cx="1600200" cy="68580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/>
              </a:rPr>
              <a:t>3. POLICY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E8C97A"/>
                </a:solidFill>
                <a:latin typeface="Calibri"/>
              </a:rPr>
              <a:t>SELECTION</a:t>
            </a:r>
          </a:p>
          <a:p>
            <a:pPr algn="ctr">
              <a:buNone/>
            </a:pPr>
            <a:r>
              <a:rPr lang="en-US" sz="1000" dirty="0">
                <a:solidFill>
                  <a:srgbClr val="A0B8C8"/>
                </a:solidFill>
                <a:latin typeface="Calibri"/>
              </a:rPr>
              <a:t>loose / shard / stage</a:t>
            </a:r>
          </a:p>
        </p:txBody>
      </p:sp>
      <p:sp>
        <p:nvSpPr>
          <p:cNvPr id="15" name="Arrow3"/>
          <p:cNvSpPr/>
          <p:nvPr/>
        </p:nvSpPr>
        <p:spPr>
          <a:xfrm>
            <a:off x="5941440" y="1555560"/>
            <a:ext cx="228600" cy="137160"/>
          </a:xfrm>
          <a:prstGeom prst="rightArrow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4Box"/>
          <p:cNvSpPr/>
          <p:nvPr/>
        </p:nvSpPr>
        <p:spPr>
          <a:xfrm>
            <a:off x="6217920" y="1280160"/>
            <a:ext cx="1600200" cy="68580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 wrap="square" lIns="182880" tIns="91440" rIns="182880" bIns="9144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/>
              </a:rPr>
              <a:t>4. PREDICTIVE</a:t>
            </a:r>
          </a:p>
          <a:p>
            <a:pPr algn="ctr">
              <a:buNone/>
            </a:pPr>
            <a:r>
              <a:rPr lang="en-US" sz="1100" b="1" dirty="0">
                <a:solidFill>
                  <a:srgbClr val="1C2B3A"/>
                </a:solidFill>
                <a:latin typeface="Calibri"/>
              </a:rPr>
              <a:t>STAGING</a:t>
            </a:r>
          </a:p>
          <a:p>
            <a:pPr algn="ctr">
              <a:buNone/>
            </a:pPr>
            <a:r>
              <a:rPr lang="en-US" sz="1000" dirty="0">
                <a:solidFill>
                  <a:srgbClr val="1C2B3A"/>
                </a:solidFill>
                <a:latin typeface="Calibri"/>
              </a:rPr>
              <a:t>shard prefetch to scratch</a:t>
            </a:r>
          </a:p>
        </p:txBody>
      </p:sp>
      <p:sp>
        <p:nvSpPr>
          <p:cNvPr id="21" name="Detail1"/>
          <p:cNvSpPr/>
          <p:nvPr/>
        </p:nvSpPr>
        <p:spPr>
          <a:xfrm>
            <a:off x="421779" y="2155511"/>
            <a:ext cx="4040335" cy="2263141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mbria"/>
              </a:rPr>
              <a:t>Profiler Signals Measured</a:t>
            </a:r>
          </a:p>
          <a:p>
            <a:pPr marL="228600" indent="-228600">
              <a:buChar char="●"/>
            </a:pPr>
            <a:r>
              <a:rPr lang="en-US" sz="1200" b="1" dirty="0">
                <a:solidFill>
                  <a:srgbClr val="C4922A"/>
                </a:solidFill>
                <a:latin typeface="Calibri"/>
              </a:rPr>
              <a:t>T_data</a:t>
            </a:r>
            <a:r>
              <a:rPr lang="en-US" sz="1200" dirty="0">
                <a:solidFill>
                  <a:srgbClr val="4A6070"/>
                </a:solidFill>
                <a:latin typeface="Calibri"/>
              </a:rPr>
              <a:t>  time waiting for next batch</a:t>
            </a:r>
          </a:p>
          <a:p>
            <a:pPr marL="228600" indent="-228600">
              <a:buChar char="●"/>
            </a:pPr>
            <a:r>
              <a:rPr lang="en-US" sz="1200" b="1" dirty="0">
                <a:solidFill>
                  <a:srgbClr val="C4922A"/>
                </a:solidFill>
                <a:latin typeface="Calibri"/>
              </a:rPr>
              <a:t>T_decode</a:t>
            </a:r>
            <a:r>
              <a:rPr lang="en-US" sz="1200" dirty="0">
                <a:solidFill>
                  <a:srgbClr val="4A6070"/>
                </a:solidFill>
                <a:latin typeface="Calibri"/>
              </a:rPr>
              <a:t>  image/mask decode + transforms</a:t>
            </a:r>
          </a:p>
          <a:p>
            <a:pPr marL="228600" indent="-228600">
              <a:buChar char="●"/>
            </a:pPr>
            <a:r>
              <a:rPr lang="en-US" sz="1200" b="1" dirty="0">
                <a:solidFill>
                  <a:srgbClr val="C4922A"/>
                </a:solidFill>
                <a:latin typeface="Calibri"/>
              </a:rPr>
              <a:t>T_h2d</a:t>
            </a:r>
            <a:r>
              <a:rPr lang="en-US" sz="1200" dirty="0">
                <a:solidFill>
                  <a:srgbClr val="4A6070"/>
                </a:solidFill>
                <a:latin typeface="Calibri"/>
              </a:rPr>
              <a:t>  CPU-to-GPU transfer time</a:t>
            </a:r>
          </a:p>
          <a:p>
            <a:pPr marL="228600" indent="-228600">
              <a:buChar char="●"/>
            </a:pPr>
            <a:r>
              <a:rPr lang="en-US" sz="1200" b="1" dirty="0">
                <a:solidFill>
                  <a:srgbClr val="C4922A"/>
                </a:solidFill>
                <a:latin typeface="Calibri"/>
              </a:rPr>
              <a:t>T_gpu</a:t>
            </a:r>
            <a:r>
              <a:rPr lang="en-US" sz="1200" dirty="0">
                <a:solidFill>
                  <a:srgbClr val="4A6070"/>
                </a:solidFill>
                <a:latin typeface="Calibri"/>
              </a:rPr>
              <a:t>  model forward/backward time</a:t>
            </a:r>
          </a:p>
          <a:p>
            <a:pPr marL="228600" indent="-228600">
              <a:buChar char="●"/>
            </a:pPr>
            <a:r>
              <a:rPr lang="en-US" sz="1200" dirty="0">
                <a:solidFill>
                  <a:srgbClr val="4A6070"/>
                </a:solidFill>
                <a:latin typeface="Calibri"/>
              </a:rPr>
              <a:t>GPU utilisation + DataLoader queue fullness</a:t>
            </a:r>
          </a:p>
          <a:p>
            <a:pPr marL="228600" indent="-228600">
              <a:buChar char="●"/>
            </a:pPr>
            <a:r>
              <a:rPr lang="en-US" sz="1200" b="1" dirty="0">
                <a:solidFill>
                  <a:srgbClr val="C4922A"/>
                </a:solidFill>
                <a:latin typeface="Calibri"/>
              </a:rPr>
              <a:t>Shard size </a:t>
            </a:r>
            <a:r>
              <a:rPr lang="en-US" sz="1200" dirty="0">
                <a:solidFill>
                  <a:srgbClr val="4A6070"/>
                </a:solidFill>
                <a:latin typeface="Calibri"/>
              </a:rPr>
              <a:t>Whether the next tar shard can be staged efficiently</a:t>
            </a:r>
          </a:p>
          <a:p>
            <a:pPr marL="228600" indent="-228600">
              <a:buChar char="●"/>
            </a:pPr>
            <a:r>
              <a:rPr lang="en-US" sz="1200" b="1" dirty="0">
                <a:solidFill>
                  <a:srgbClr val="C4922A"/>
                </a:solidFill>
                <a:latin typeface="Calibri"/>
              </a:rPr>
              <a:t>Scratch Availability</a:t>
            </a:r>
            <a:r>
              <a:rPr lang="en-US" sz="1200" dirty="0">
                <a:solidFill>
                  <a:srgbClr val="4A6070"/>
                </a:solidFill>
                <a:latin typeface="Calibri"/>
              </a:rPr>
              <a:t>: Whether node-local scratch has enough space</a:t>
            </a:r>
          </a:p>
          <a:p>
            <a:pPr marL="228600" indent="-228600">
              <a:buChar char="●"/>
            </a:pPr>
            <a:endParaRPr lang="en-US" sz="1200" dirty="0">
              <a:solidFill>
                <a:srgbClr val="4A6070"/>
              </a:solidFill>
              <a:latin typeface="Calibri"/>
            </a:endParaRPr>
          </a:p>
          <a:p>
            <a:pPr marL="228600" indent="-228600">
              <a:buChar char="●"/>
            </a:pPr>
            <a:endParaRPr lang="en-US" sz="1200" dirty="0">
              <a:solidFill>
                <a:srgbClr val="4A6070"/>
              </a:solidFill>
              <a:latin typeface="Calibri"/>
            </a:endParaRPr>
          </a:p>
          <a:p>
            <a:pPr marL="228600" indent="-228600">
              <a:buChar char="●"/>
            </a:pPr>
            <a:endParaRPr lang="en-US" sz="1200" dirty="0">
              <a:solidFill>
                <a:srgbClr val="4A6070"/>
              </a:solidFill>
              <a:latin typeface="Calibri"/>
            </a:endParaRPr>
          </a:p>
        </p:txBody>
      </p:sp>
      <p:sp>
        <p:nvSpPr>
          <p:cNvPr id="23" name="Detail1">
            <a:extLst>
              <a:ext uri="{FF2B5EF4-FFF2-40B4-BE49-F238E27FC236}">
                <a16:creationId xmlns:a16="http://schemas.microsoft.com/office/drawing/2014/main" id="{DF2A20F8-F463-049A-E534-3708280C962A}"/>
              </a:ext>
            </a:extLst>
          </p:cNvPr>
          <p:cNvSpPr/>
          <p:nvPr/>
        </p:nvSpPr>
        <p:spPr>
          <a:xfrm>
            <a:off x="4096380" y="2131489"/>
            <a:ext cx="1123388" cy="289243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Cambria"/>
              </a:rPr>
              <a:t>Example</a:t>
            </a:r>
          </a:p>
          <a:p>
            <a:pPr marL="0" indent="0">
              <a:buNone/>
            </a:pPr>
            <a:endParaRPr lang="en-US" sz="1400" b="1" dirty="0">
              <a:solidFill>
                <a:srgbClr val="1C2B3A"/>
              </a:solidFill>
              <a:latin typeface="Cambria"/>
            </a:endParaRPr>
          </a:p>
          <a:p>
            <a:pPr marL="0" indent="0">
              <a:buNone/>
            </a:pPr>
            <a:endParaRPr lang="en-US" sz="1400" b="1" dirty="0">
              <a:solidFill>
                <a:srgbClr val="1C2B3A"/>
              </a:solidFill>
              <a:latin typeface="Cambria"/>
            </a:endParaRPr>
          </a:p>
          <a:p>
            <a:pPr marL="228600" indent="-228600">
              <a:buChar char="●"/>
            </a:pPr>
            <a:endParaRPr lang="en-US" sz="1200" dirty="0">
              <a:solidFill>
                <a:srgbClr val="4A6070"/>
              </a:solidFill>
              <a:latin typeface="Calibri"/>
            </a:endParaRPr>
          </a:p>
          <a:p>
            <a:pPr marL="228600" indent="-228600">
              <a:buChar char="●"/>
            </a:pPr>
            <a:endParaRPr lang="en-US" sz="1200" dirty="0">
              <a:solidFill>
                <a:srgbClr val="4A6070"/>
              </a:solidFill>
              <a:latin typeface="Calibri"/>
            </a:endParaRPr>
          </a:p>
          <a:p>
            <a:pPr marL="228600" indent="-228600">
              <a:buChar char="●"/>
            </a:pPr>
            <a:endParaRPr lang="en-US" sz="1200" dirty="0">
              <a:solidFill>
                <a:srgbClr val="4A6070"/>
              </a:solidFill>
              <a:latin typeface="Calibri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B61D7A7-A538-5270-97A7-A58DA82A3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7306" y="2515508"/>
            <a:ext cx="2044925" cy="88486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66D0885-26AB-302E-7D5A-2C874708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671" y="2515508"/>
            <a:ext cx="2550129" cy="89764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D79BBE3-7FDC-E4C9-0E2F-146614A96C9B}"/>
              </a:ext>
            </a:extLst>
          </p:cNvPr>
          <p:cNvSpPr txBox="1"/>
          <p:nvPr/>
        </p:nvSpPr>
        <p:spPr>
          <a:xfrm>
            <a:off x="4485173" y="3413153"/>
            <a:ext cx="1001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6070"/>
                </a:solidFill>
                <a:latin typeface="Calibri"/>
              </a:rPr>
              <a:t>Policy: Shard</a:t>
            </a:r>
            <a:endParaRPr lang="en-IN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60BC58-BE04-51AA-35E9-C96A20878DB1}"/>
              </a:ext>
            </a:extLst>
          </p:cNvPr>
          <p:cNvSpPr txBox="1"/>
          <p:nvPr/>
        </p:nvSpPr>
        <p:spPr>
          <a:xfrm>
            <a:off x="6936273" y="3393073"/>
            <a:ext cx="100122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4A6070"/>
                </a:solidFill>
                <a:latin typeface="Calibri"/>
              </a:rPr>
              <a:t>Policy: Stage</a:t>
            </a:r>
            <a:endParaRPr lang="en-IN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240A79-82D9-27B5-121F-2AC7D012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>
            <a:extLst>
              <a:ext uri="{FF2B5EF4-FFF2-40B4-BE49-F238E27FC236}">
                <a16:creationId xmlns:a16="http://schemas.microsoft.com/office/drawing/2014/main" id="{83D6E44E-4044-9C16-E352-E4C008E792C1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50634FA1-EDA1-CD9B-CAE2-DC9072C8D1A6}"/>
              </a:ext>
            </a:extLst>
          </p:cNvPr>
          <p:cNvSpPr/>
          <p:nvPr/>
        </p:nvSpPr>
        <p:spPr>
          <a:xfrm>
            <a:off x="457200" y="228600"/>
            <a:ext cx="8457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/>
              </a:rPr>
              <a:t>Bottleneck Classification &amp; Adaptive Policy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D13A1A99-3EC5-7164-DB58-C557CBF5FE0E}"/>
              </a:ext>
            </a:extLst>
          </p:cNvPr>
          <p:cNvSpPr/>
          <p:nvPr/>
        </p:nvSpPr>
        <p:spPr>
          <a:xfrm>
            <a:off x="457200" y="822960"/>
            <a:ext cx="8457600" cy="2743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D7552C-8E03-EA64-AFCC-C7695B65D5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51"/>
          <a:stretch>
            <a:fillRect/>
          </a:stretch>
        </p:blipFill>
        <p:spPr>
          <a:xfrm>
            <a:off x="457200" y="2345685"/>
            <a:ext cx="6283505" cy="2243247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1E7E0B-28F6-9981-4F80-9B6911F9E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270274"/>
              </p:ext>
            </p:extLst>
          </p:nvPr>
        </p:nvGraphicFramePr>
        <p:xfrm>
          <a:off x="457200" y="1022783"/>
          <a:ext cx="7886700" cy="12344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685745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2860614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732523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kern="1200" dirty="0">
                          <a:solidFill>
                            <a:srgbClr val="4A6070"/>
                          </a:solidFill>
                          <a:latin typeface="Calibri"/>
                          <a:ea typeface="+mn-ea"/>
                          <a:cs typeface="+mn-cs"/>
                        </a:rPr>
                        <a:t>Policy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kern="1200" dirty="0">
                          <a:solidFill>
                            <a:srgbClr val="4A6070"/>
                          </a:solidFill>
                          <a:latin typeface="Calibri"/>
                          <a:ea typeface="+mn-ea"/>
                          <a:cs typeface="+mn-cs"/>
                        </a:rPr>
                        <a:t>What it does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kern="1200" dirty="0">
                          <a:solidFill>
                            <a:srgbClr val="4A6070"/>
                          </a:solidFill>
                          <a:latin typeface="Calibri"/>
                          <a:ea typeface="+mn-ea"/>
                          <a:cs typeface="+mn-cs"/>
                        </a:rPr>
                        <a:t>Best when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24928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Loose</a:t>
                      </a:r>
                      <a:endParaRPr lang="en-IN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Reads individual image/mask files directly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Simple baseline, small/local dataset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340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Shard</a:t>
                      </a:r>
                      <a:endParaRPr lang="en-IN" sz="11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Reads samples from tar archives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Many-small-file overhead is the 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104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Stage</a:t>
                      </a:r>
                      <a:endParaRPr lang="en-IN" sz="11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Copies future shards to node-local scratch before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Shared filesystem latency is the problem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724591"/>
                  </a:ext>
                </a:extLst>
              </a:tr>
            </a:tbl>
          </a:graphicData>
        </a:graphic>
      </p:graphicFrame>
      <p:sp>
        <p:nvSpPr>
          <p:cNvPr id="8" name="TblHdr">
            <a:extLst>
              <a:ext uri="{FF2B5EF4-FFF2-40B4-BE49-F238E27FC236}">
                <a16:creationId xmlns:a16="http://schemas.microsoft.com/office/drawing/2014/main" id="{8FCCFE37-F67D-7328-D0DE-907C9DCD20B0}"/>
              </a:ext>
            </a:extLst>
          </p:cNvPr>
          <p:cNvSpPr/>
          <p:nvPr/>
        </p:nvSpPr>
        <p:spPr>
          <a:xfrm>
            <a:off x="457200" y="896112"/>
            <a:ext cx="8229600" cy="41148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/>
              </a:rPr>
              <a:t>Policy 		                    Action 		                   Best when</a:t>
            </a:r>
          </a:p>
        </p:txBody>
      </p:sp>
    </p:spTree>
    <p:extLst>
      <p:ext uri="{BB962C8B-B14F-4D97-AF65-F5344CB8AC3E}">
        <p14:creationId xmlns:p14="http://schemas.microsoft.com/office/powerpoint/2010/main" val="134336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8457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/>
              </a:rPr>
              <a:t>Bottleneck Classification &amp; Adaptive Policy</a:t>
            </a:r>
          </a:p>
        </p:txBody>
      </p:sp>
      <p:sp>
        <p:nvSpPr>
          <p:cNvPr id="4" name="Divider"/>
          <p:cNvSpPr/>
          <p:nvPr/>
        </p:nvSpPr>
        <p:spPr>
          <a:xfrm>
            <a:off x="457200" y="822960"/>
            <a:ext cx="8457600" cy="2743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TblHdr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/>
              </a:rPr>
              <a:t>Detected Bottleneck</a:t>
            </a:r>
            <a:r>
              <a:rPr lang="en-US" sz="1300" dirty="0">
                <a:solidFill>
                  <a:srgbClr val="4A6070"/>
                </a:solidFill>
                <a:latin typeface="Calibri"/>
              </a:rPr>
              <a:t>                                                    </a:t>
            </a:r>
            <a:r>
              <a:rPr lang="en-US" sz="1300" b="1" dirty="0">
                <a:solidFill>
                  <a:srgbClr val="E8C97A"/>
                </a:solidFill>
                <a:latin typeface="Calibri"/>
              </a:rPr>
              <a:t>PADS-Loader Action</a:t>
            </a:r>
          </a:p>
        </p:txBody>
      </p:sp>
      <p:sp>
        <p:nvSpPr>
          <p:cNvPr id="20" name="Row1L"/>
          <p:cNvSpPr/>
          <p:nvPr/>
        </p:nvSpPr>
        <p:spPr>
          <a:xfrm>
            <a:off x="457200" y="1325880"/>
            <a:ext cx="3200400" cy="365760"/>
          </a:xfrm>
          <a:prstGeom prst="rect">
            <a:avLst/>
          </a:prstGeom>
          <a:solidFill>
            <a:srgbClr val="F4F7F9"/>
          </a:solidFill>
          <a:ln w="9525">
            <a:solidFill>
              <a:srgbClr val="D8E4EC"/>
            </a:solidFill>
          </a:ln>
        </p:spPr>
        <p:txBody>
          <a:bodyPr wrap="square" lIns="182880" tIns="45720" rIns="91440" bIns="4572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C2B3A"/>
                </a:solidFill>
                <a:latin typeface="Calibri"/>
              </a:rPr>
              <a:t>T_data</a:t>
            </a:r>
            <a:r>
              <a:rPr lang="en-US" sz="1200" b="1" dirty="0">
                <a:solidFill>
                  <a:srgbClr val="1C2B3A"/>
                </a:solidFill>
                <a:latin typeface="Calibri"/>
              </a:rPr>
              <a:t> low, </a:t>
            </a:r>
            <a:r>
              <a:rPr lang="en-US" sz="1200" b="1" dirty="0" err="1">
                <a:solidFill>
                  <a:srgbClr val="1C2B3A"/>
                </a:solidFill>
                <a:latin typeface="Calibri"/>
              </a:rPr>
              <a:t>T_gpu</a:t>
            </a:r>
            <a:r>
              <a:rPr lang="en-US" sz="1200" b="1" dirty="0">
                <a:solidFill>
                  <a:srgbClr val="1C2B3A"/>
                </a:solidFill>
                <a:latin typeface="Calibri"/>
              </a:rPr>
              <a:t> high, GPU </a:t>
            </a:r>
            <a:r>
              <a:rPr lang="en-US" sz="1200" b="1" dirty="0" err="1">
                <a:solidFill>
                  <a:srgbClr val="1C2B3A"/>
                </a:solidFill>
                <a:latin typeface="Calibri"/>
              </a:rPr>
              <a:t>utilisation</a:t>
            </a:r>
            <a:r>
              <a:rPr lang="en-US" sz="1200" b="1" dirty="0">
                <a:solidFill>
                  <a:srgbClr val="1C2B3A"/>
                </a:solidFill>
                <a:latin typeface="Calibri"/>
              </a:rPr>
              <a:t> high</a:t>
            </a:r>
          </a:p>
        </p:txBody>
      </p:sp>
      <p:sp>
        <p:nvSpPr>
          <p:cNvPr id="21" name="Row1R"/>
          <p:cNvSpPr/>
          <p:nvPr/>
        </p:nvSpPr>
        <p:spPr>
          <a:xfrm>
            <a:off x="3657600" y="1325880"/>
            <a:ext cx="5029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C"/>
            </a:solidFill>
          </a:ln>
        </p:spPr>
        <p:txBody>
          <a:bodyPr wrap="square" lIns="182880" tIns="45720" rIns="182880" bIns="45720" rtlCol="0" anchor="ctr"/>
          <a:lstStyle/>
          <a:p>
            <a:r>
              <a:rPr lang="en-IN" sz="1200" dirty="0"/>
              <a:t>Loose</a:t>
            </a:r>
            <a:endParaRPr lang="en-US" sz="1200" dirty="0">
              <a:solidFill>
                <a:srgbClr val="4A6070"/>
              </a:solidFill>
              <a:latin typeface="Calibri"/>
            </a:endParaRPr>
          </a:p>
        </p:txBody>
      </p:sp>
      <p:sp>
        <p:nvSpPr>
          <p:cNvPr id="22" name="Row2L"/>
          <p:cNvSpPr/>
          <p:nvPr/>
        </p:nvSpPr>
        <p:spPr>
          <a:xfrm>
            <a:off x="457200" y="1691640"/>
            <a:ext cx="3200400" cy="365760"/>
          </a:xfrm>
          <a:prstGeom prst="rect">
            <a:avLst/>
          </a:prstGeom>
          <a:solidFill>
            <a:srgbClr val="F4F7F9"/>
          </a:solidFill>
          <a:ln w="9525">
            <a:solidFill>
              <a:srgbClr val="D8E4EC"/>
            </a:solidFill>
          </a:ln>
        </p:spPr>
        <p:txBody>
          <a:bodyPr wrap="square" lIns="18288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/>
              </a:rPr>
              <a:t>Many open/stat/read calls, high metadata overhead</a:t>
            </a:r>
          </a:p>
        </p:txBody>
      </p:sp>
      <p:sp>
        <p:nvSpPr>
          <p:cNvPr id="23" name="Row2R"/>
          <p:cNvSpPr/>
          <p:nvPr/>
        </p:nvSpPr>
        <p:spPr>
          <a:xfrm>
            <a:off x="3657600" y="1691640"/>
            <a:ext cx="5029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C"/>
            </a:solidFill>
          </a:ln>
        </p:spPr>
        <p:txBody>
          <a:bodyPr wrap="square" lIns="182880" tIns="45720" rIns="182880" bIns="45720" rtlCol="0" anchor="ctr"/>
          <a:lstStyle/>
          <a:p>
            <a:r>
              <a:rPr lang="en-IN" sz="1200" dirty="0"/>
              <a:t>Shard</a:t>
            </a:r>
            <a:endParaRPr lang="en-US" sz="1200" dirty="0">
              <a:solidFill>
                <a:srgbClr val="4A6070"/>
              </a:solidFill>
              <a:latin typeface="Calibri"/>
            </a:endParaRPr>
          </a:p>
        </p:txBody>
      </p:sp>
      <p:sp>
        <p:nvSpPr>
          <p:cNvPr id="26" name="Row4L"/>
          <p:cNvSpPr/>
          <p:nvPr/>
        </p:nvSpPr>
        <p:spPr>
          <a:xfrm>
            <a:off x="457200" y="2057400"/>
            <a:ext cx="3200400" cy="365760"/>
          </a:xfrm>
          <a:prstGeom prst="rect">
            <a:avLst/>
          </a:prstGeom>
          <a:solidFill>
            <a:srgbClr val="F4F7F9"/>
          </a:solidFill>
          <a:ln w="9525">
            <a:solidFill>
              <a:srgbClr val="D8E4EC"/>
            </a:solidFill>
          </a:ln>
        </p:spPr>
        <p:txBody>
          <a:bodyPr wrap="square" lIns="18288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/>
              </a:rPr>
              <a:t>Shared filesystem read latency high, scratch available</a:t>
            </a:r>
          </a:p>
        </p:txBody>
      </p:sp>
      <p:sp>
        <p:nvSpPr>
          <p:cNvPr id="27" name="Row4R"/>
          <p:cNvSpPr/>
          <p:nvPr/>
        </p:nvSpPr>
        <p:spPr>
          <a:xfrm>
            <a:off x="3657600" y="2057400"/>
            <a:ext cx="5029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C"/>
            </a:solidFill>
          </a:ln>
        </p:spPr>
        <p:txBody>
          <a:bodyPr wrap="square" lIns="182880" tIns="45720" rIns="182880" bIns="45720" rtlCol="0" anchor="ctr"/>
          <a:lstStyle/>
          <a:p>
            <a:r>
              <a:rPr lang="en-IN" sz="1200" b="1" dirty="0"/>
              <a:t>Stage</a:t>
            </a:r>
            <a:endParaRPr lang="en-US" sz="1200" dirty="0">
              <a:solidFill>
                <a:srgbClr val="4A6070"/>
              </a:solidFill>
              <a:latin typeface="Calibri"/>
            </a:endParaRPr>
          </a:p>
        </p:txBody>
      </p:sp>
      <p:sp>
        <p:nvSpPr>
          <p:cNvPr id="28" name="Row5L"/>
          <p:cNvSpPr/>
          <p:nvPr/>
        </p:nvSpPr>
        <p:spPr>
          <a:xfrm>
            <a:off x="457200" y="2423160"/>
            <a:ext cx="3200400" cy="365760"/>
          </a:xfrm>
          <a:prstGeom prst="rect">
            <a:avLst/>
          </a:prstGeom>
          <a:solidFill>
            <a:srgbClr val="F4F7F9"/>
          </a:solidFill>
          <a:ln w="9525">
            <a:solidFill>
              <a:srgbClr val="D8E4EC"/>
            </a:solidFill>
          </a:ln>
        </p:spPr>
        <p:txBody>
          <a:bodyPr wrap="square" lIns="182880" tIns="45720" rIns="9144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Calibri"/>
              </a:rPr>
              <a:t>Many-small-file overhead + slow shared FS</a:t>
            </a:r>
          </a:p>
        </p:txBody>
      </p:sp>
      <p:sp>
        <p:nvSpPr>
          <p:cNvPr id="29" name="Row5R"/>
          <p:cNvSpPr/>
          <p:nvPr/>
        </p:nvSpPr>
        <p:spPr>
          <a:xfrm>
            <a:off x="3657600" y="2423160"/>
            <a:ext cx="5029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C"/>
            </a:solidFill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/>
              </a:rPr>
              <a:t>Shard + stage</a:t>
            </a:r>
          </a:p>
        </p:txBody>
      </p:sp>
      <p:sp>
        <p:nvSpPr>
          <p:cNvPr id="30" name="Row6L"/>
          <p:cNvSpPr/>
          <p:nvPr/>
        </p:nvSpPr>
        <p:spPr>
          <a:xfrm>
            <a:off x="457200" y="2788920"/>
            <a:ext cx="3200400" cy="365760"/>
          </a:xfrm>
          <a:prstGeom prst="rect">
            <a:avLst/>
          </a:prstGeom>
          <a:solidFill>
            <a:srgbClr val="F4F7F9"/>
          </a:solidFill>
          <a:ln w="9525">
            <a:solidFill>
              <a:srgbClr val="D8E4EC"/>
            </a:solidFill>
          </a:ln>
        </p:spPr>
        <p:txBody>
          <a:bodyPr wrap="square" lIns="182880" tIns="45720" rIns="91440" bIns="4572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C2B3A"/>
                </a:solidFill>
                <a:latin typeface="Calibri"/>
              </a:rPr>
              <a:t>T_decode</a:t>
            </a:r>
            <a:r>
              <a:rPr lang="en-US" sz="1200" b="1" dirty="0">
                <a:solidFill>
                  <a:srgbClr val="1C2B3A"/>
                </a:solidFill>
                <a:latin typeface="Calibri"/>
              </a:rPr>
              <a:t> dominates</a:t>
            </a:r>
          </a:p>
        </p:txBody>
      </p:sp>
      <p:sp>
        <p:nvSpPr>
          <p:cNvPr id="31" name="Row6R"/>
          <p:cNvSpPr/>
          <p:nvPr/>
        </p:nvSpPr>
        <p:spPr>
          <a:xfrm>
            <a:off x="3657600" y="2788920"/>
            <a:ext cx="502920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C"/>
            </a:solidFill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6070"/>
                </a:solidFill>
                <a:latin typeface="Calibri"/>
              </a:rPr>
              <a:t>Increase workers / cache decoded samples</a:t>
            </a:r>
          </a:p>
        </p:txBody>
      </p:sp>
      <p:sp>
        <p:nvSpPr>
          <p:cNvPr id="40" name="FooterNote"/>
          <p:cNvSpPr/>
          <p:nvPr/>
        </p:nvSpPr>
        <p:spPr>
          <a:xfrm>
            <a:off x="457200" y="3360420"/>
            <a:ext cx="8229600" cy="32004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wrap="square" lIns="228600" tIns="45720" rIns="228600" bIns="4572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B8C8"/>
                </a:solidFill>
                <a:latin typeface="Calibri"/>
              </a:rPr>
              <a:t>Policies are not mutually exclusive — e.g. scratch staging + increased workers may both be active when filesystem I/O and decode are co-bottlenecks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/>
          <p:nvPr/>
        </p:nvSpPr>
        <p:spPr>
          <a:xfrm>
            <a:off x="457200" y="228600"/>
            <a:ext cx="8457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/>
              </a:rPr>
              <a:t>Evaluation Plan</a:t>
            </a:r>
          </a:p>
        </p:txBody>
      </p:sp>
      <p:sp>
        <p:nvSpPr>
          <p:cNvPr id="4" name="Divider"/>
          <p:cNvSpPr/>
          <p:nvPr/>
        </p:nvSpPr>
        <p:spPr>
          <a:xfrm>
            <a:off x="457200" y="822960"/>
            <a:ext cx="8457600" cy="2743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LeftHdr"/>
          <p:cNvSpPr/>
          <p:nvPr/>
        </p:nvSpPr>
        <p:spPr>
          <a:xfrm>
            <a:off x="960967" y="1508337"/>
            <a:ext cx="7298266" cy="320040"/>
          </a:xfrm>
          <a:prstGeom prst="rect">
            <a:avLst/>
          </a:prstGeom>
          <a:solidFill>
            <a:srgbClr val="1C2B3A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/>
              </a:rPr>
              <a:t>Comparison Methods</a:t>
            </a:r>
          </a:p>
        </p:txBody>
      </p:sp>
      <p:sp>
        <p:nvSpPr>
          <p:cNvPr id="11" name="M1"/>
          <p:cNvSpPr/>
          <p:nvPr/>
        </p:nvSpPr>
        <p:spPr>
          <a:xfrm>
            <a:off x="960967" y="1828377"/>
            <a:ext cx="7298266" cy="400050"/>
          </a:xfrm>
          <a:prstGeom prst="rect">
            <a:avLst/>
          </a:prstGeom>
          <a:solidFill>
            <a:srgbClr val="F4F7F9"/>
          </a:solidFill>
          <a:ln w="9525">
            <a:solidFill>
              <a:srgbClr val="D8E4EC"/>
            </a:solidFill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70"/>
                </a:solidFill>
                <a:latin typeface="Calibri"/>
              </a:rPr>
              <a:t>Baseline PyTorch DataLoader</a:t>
            </a:r>
            <a:r>
              <a:rPr lang="en-US" sz="1200" dirty="0">
                <a:solidFill>
                  <a:srgbClr val="A0B8C8"/>
                </a:solidFill>
                <a:latin typeface="Calibri"/>
              </a:rPr>
              <a:t>  (loose files, default settings)</a:t>
            </a:r>
          </a:p>
        </p:txBody>
      </p:sp>
      <p:sp>
        <p:nvSpPr>
          <p:cNvPr id="12" name="M2"/>
          <p:cNvSpPr/>
          <p:nvPr/>
        </p:nvSpPr>
        <p:spPr>
          <a:xfrm>
            <a:off x="960967" y="2228427"/>
            <a:ext cx="7298266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C"/>
            </a:solidFill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70"/>
                </a:solidFill>
                <a:latin typeface="Calibri"/>
              </a:rPr>
              <a:t>Tuned PyTorch DataLoader</a:t>
            </a:r>
            <a:r>
              <a:rPr lang="en-US" sz="1200" dirty="0">
                <a:solidFill>
                  <a:srgbClr val="A0B8C8"/>
                </a:solidFill>
                <a:latin typeface="Calibri"/>
              </a:rPr>
              <a:t>  (best num_workers, pin_memory, prefetch)</a:t>
            </a:r>
          </a:p>
        </p:txBody>
      </p:sp>
      <p:sp>
        <p:nvSpPr>
          <p:cNvPr id="13" name="M3"/>
          <p:cNvSpPr/>
          <p:nvPr/>
        </p:nvSpPr>
        <p:spPr>
          <a:xfrm>
            <a:off x="960967" y="2628477"/>
            <a:ext cx="7298266" cy="400050"/>
          </a:xfrm>
          <a:prstGeom prst="rect">
            <a:avLst/>
          </a:prstGeom>
          <a:solidFill>
            <a:srgbClr val="F4F7F9"/>
          </a:solidFill>
          <a:ln w="9525">
            <a:solidFill>
              <a:srgbClr val="D8E4EC"/>
            </a:solidFill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70"/>
                </a:solidFill>
                <a:latin typeface="Calibri"/>
              </a:rPr>
              <a:t>WebDataset</a:t>
            </a:r>
            <a:r>
              <a:rPr lang="en-US" sz="1200" dirty="0">
                <a:solidFill>
                  <a:srgbClr val="A0B8C8"/>
                </a:solidFill>
                <a:latin typeface="Calibri"/>
              </a:rPr>
              <a:t>  (fixed tar-shard streaming, no adaptation)</a:t>
            </a:r>
          </a:p>
        </p:txBody>
      </p:sp>
      <p:sp>
        <p:nvSpPr>
          <p:cNvPr id="14" name="M4"/>
          <p:cNvSpPr/>
          <p:nvPr/>
        </p:nvSpPr>
        <p:spPr>
          <a:xfrm>
            <a:off x="960967" y="3028527"/>
            <a:ext cx="7298266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EC"/>
            </a:solidFill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6070"/>
                </a:solidFill>
                <a:latin typeface="Calibri"/>
              </a:rPr>
              <a:t>Scratch Baseline</a:t>
            </a:r>
            <a:r>
              <a:rPr lang="en-US" sz="1200" dirty="0">
                <a:solidFill>
                  <a:srgbClr val="A0B8C8"/>
                </a:solidFill>
                <a:latin typeface="Calibri"/>
              </a:rPr>
              <a:t>  (copy loose files to node-local scratch manually)</a:t>
            </a:r>
          </a:p>
        </p:txBody>
      </p:sp>
      <p:sp>
        <p:nvSpPr>
          <p:cNvPr id="15" name="M5"/>
          <p:cNvSpPr/>
          <p:nvPr/>
        </p:nvSpPr>
        <p:spPr>
          <a:xfrm>
            <a:off x="960967" y="3428577"/>
            <a:ext cx="7298266" cy="40005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 wrap="square" lIns="182880" tIns="45720" rIns="182880" bIns="4572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B3A"/>
                </a:solidFill>
                <a:latin typeface="Calibri"/>
              </a:rPr>
              <a:t>PADS-Loader (proposed)</a:t>
            </a:r>
            <a:r>
              <a:rPr lang="en-US" sz="1200" dirty="0">
                <a:solidFill>
                  <a:srgbClr val="1C2B3A"/>
                </a:solidFill>
                <a:latin typeface="Calibri"/>
              </a:rPr>
              <a:t>  adaptive staging + predictive prefetch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39E168-EF6C-CA05-24A9-1437D12BA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bar">
            <a:extLst>
              <a:ext uri="{FF2B5EF4-FFF2-40B4-BE49-F238E27FC236}">
                <a16:creationId xmlns:a16="http://schemas.microsoft.com/office/drawing/2014/main" id="{6E55FDD5-F027-D95B-BB9D-7AA501618472}"/>
              </a:ext>
            </a:extLst>
          </p:cNvPr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FC0FC45D-4F51-88BF-A8D1-0884CD4AC250}"/>
              </a:ext>
            </a:extLst>
          </p:cNvPr>
          <p:cNvSpPr/>
          <p:nvPr/>
        </p:nvSpPr>
        <p:spPr>
          <a:xfrm>
            <a:off x="457200" y="228600"/>
            <a:ext cx="8457600" cy="5486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/>
              </a:rPr>
              <a:t>References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A628A652-8265-E626-250A-6D12C94F47C8}"/>
              </a:ext>
            </a:extLst>
          </p:cNvPr>
          <p:cNvSpPr/>
          <p:nvPr/>
        </p:nvSpPr>
        <p:spPr>
          <a:xfrm>
            <a:off x="457200" y="822960"/>
            <a:ext cx="8457600" cy="2743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F10196-74BD-56A8-24C0-1D7ECE0A7EBD}"/>
              </a:ext>
            </a:extLst>
          </p:cNvPr>
          <p:cNvSpPr txBox="1"/>
          <p:nvPr/>
        </p:nvSpPr>
        <p:spPr>
          <a:xfrm>
            <a:off x="457199" y="923545"/>
            <a:ext cx="81364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Char char="●"/>
            </a:pPr>
            <a:r>
              <a:rPr lang="en-US" sz="1200" dirty="0"/>
              <a:t>[1] </a:t>
            </a:r>
            <a:r>
              <a:rPr lang="en-US" sz="1200" dirty="0" err="1"/>
              <a:t>Svogor</a:t>
            </a:r>
            <a:r>
              <a:rPr lang="en-US" sz="1200" dirty="0"/>
              <a:t> et al., “Profiling and Improving the </a:t>
            </a:r>
            <a:r>
              <a:rPr lang="en-US" sz="1200" dirty="0" err="1"/>
              <a:t>PyTorch</a:t>
            </a:r>
            <a:r>
              <a:rPr lang="en-US" sz="1200" dirty="0"/>
              <a:t> </a:t>
            </a:r>
            <a:r>
              <a:rPr lang="en-US" sz="1200" dirty="0" err="1"/>
              <a:t>Dataloader</a:t>
            </a:r>
            <a:r>
              <a:rPr lang="en-US" sz="1200" dirty="0"/>
              <a:t> for High-Latency Storage,” </a:t>
            </a:r>
            <a:r>
              <a:rPr lang="en-US" sz="1200" dirty="0" err="1"/>
              <a:t>arXiv</a:t>
            </a:r>
            <a:r>
              <a:rPr lang="en-US" sz="1200" dirty="0"/>
              <a:t>, 2022. </a:t>
            </a:r>
            <a:r>
              <a:rPr lang="en-US" sz="1200" b="1" dirty="0"/>
              <a:t>Base paper</a:t>
            </a:r>
          </a:p>
          <a:p>
            <a:pPr marL="228600" indent="-228600">
              <a:buChar char="●"/>
            </a:pPr>
            <a:r>
              <a:rPr lang="en-US" sz="1200" dirty="0"/>
              <a:t>[2] </a:t>
            </a:r>
            <a:r>
              <a:rPr lang="en-US" sz="1200" dirty="0" err="1"/>
              <a:t>Aizman</a:t>
            </a:r>
            <a:r>
              <a:rPr lang="en-US" sz="1200" dirty="0"/>
              <a:t> et al., “High Performance I/O for Large Scale Deep Learning,” </a:t>
            </a:r>
            <a:r>
              <a:rPr lang="en-US" sz="1200" dirty="0" err="1"/>
              <a:t>arXiv</a:t>
            </a:r>
            <a:r>
              <a:rPr lang="en-US" sz="1200" dirty="0"/>
              <a:t>, 2020. </a:t>
            </a:r>
            <a:r>
              <a:rPr lang="en-US" sz="1200" b="1" dirty="0"/>
              <a:t>Tar</a:t>
            </a:r>
          </a:p>
          <a:p>
            <a:pPr marL="228600" indent="-228600">
              <a:buChar char="●"/>
            </a:pPr>
            <a:r>
              <a:rPr lang="en-US" sz="1200" dirty="0"/>
              <a:t>[3] Dryden et al., “Clairvoyant Prefetching for Distributed Machine Learning I/O,” SC, 2021. </a:t>
            </a:r>
            <a:r>
              <a:rPr lang="en-US" sz="1200" b="1" dirty="0"/>
              <a:t>Predictive staging </a:t>
            </a:r>
          </a:p>
          <a:p>
            <a:pPr marL="228600" indent="-228600">
              <a:buChar char="●"/>
            </a:pPr>
            <a:r>
              <a:rPr lang="en-US" sz="1200" dirty="0"/>
              <a:t>[4] </a:t>
            </a:r>
            <a:r>
              <a:rPr lang="en-US" sz="1200" dirty="0" err="1"/>
              <a:t>Kuchnik</a:t>
            </a:r>
            <a:r>
              <a:rPr lang="en-US" sz="1200" dirty="0"/>
              <a:t> et al., “Plumber: Diagnosing and Removing Performance Bottlenecks in Machine Learning Data Pipelines,” </a:t>
            </a:r>
            <a:r>
              <a:rPr lang="en-US" sz="1200" dirty="0" err="1"/>
              <a:t>MLSys</a:t>
            </a:r>
            <a:r>
              <a:rPr lang="en-US" sz="1200" dirty="0"/>
              <a:t>, 2022. (</a:t>
            </a:r>
            <a:r>
              <a:rPr lang="en-IN" sz="1200" b="1" dirty="0"/>
              <a:t>bottleneck classification</a:t>
            </a:r>
            <a:r>
              <a:rPr lang="en-US" sz="1200" dirty="0"/>
              <a:t>)</a:t>
            </a:r>
          </a:p>
          <a:p>
            <a:pPr marL="228600" indent="-228600">
              <a:buChar char="●"/>
            </a:pPr>
            <a:r>
              <a:rPr lang="en-US" sz="1200" dirty="0"/>
              <a:t>[5] Leclerc et al., “FFCV: Accelerating Training by Removing Data Bottlenecks,” CVPR, 2023.</a:t>
            </a:r>
          </a:p>
        </p:txBody>
      </p:sp>
    </p:spTree>
    <p:extLst>
      <p:ext uri="{BB962C8B-B14F-4D97-AF65-F5344CB8AC3E}">
        <p14:creationId xmlns:p14="http://schemas.microsoft.com/office/powerpoint/2010/main" val="1907963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 rot="16200000">
            <a:off x="-1737360" y="2103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25603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60120"/>
            <a:ext cx="8321040" cy="18288"/>
          </a:xfrm>
          <a:prstGeom prst="rect">
            <a:avLst/>
          </a:prstGeom>
          <a:solidFill>
            <a:srgbClr val="E8E8E6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02412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timeline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321040" cy="292608"/>
          </a:xfrm>
          <a:prstGeom prst="rect">
            <a:avLst/>
          </a:prstGeom>
          <a:solidFill>
            <a:srgbClr val="1C2B3A"/>
          </a:solidFill>
          <a:ln w="12700">
            <a:solidFill>
              <a:srgbClr val="1C2B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74520" y="1417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2044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1709928"/>
            <a:ext cx="8321040" cy="502920"/>
          </a:xfrm>
          <a:prstGeom prst="rect">
            <a:avLst/>
          </a:prstGeom>
          <a:solidFill>
            <a:srgbClr val="EBF5EB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94360" y="1892808"/>
            <a:ext cx="164592" cy="1645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4672" y="170992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37360" y="170992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 – Mar 28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7099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setup, dataset preparation &amp; QGIS pipeline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2249424"/>
            <a:ext cx="8321040" cy="502920"/>
          </a:xfrm>
          <a:prstGeom prst="rect">
            <a:avLst/>
          </a:prstGeom>
          <a:solidFill>
            <a:srgbClr val="EBF5EB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04672" y="224942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Wks 5–8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37360" y="224942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 – Apr 25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00400" y="2249424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MA-Net baseline (reproducing Casini et al. 2023) + intro &amp; background drafting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92440" y="235915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2920" y="2788920"/>
            <a:ext cx="8321040" cy="502920"/>
          </a:xfrm>
          <a:prstGeom prst="rect">
            <a:avLst/>
          </a:prstGeom>
          <a:solidFill>
            <a:srgbClr val="EBF5EB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04672" y="2788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9–12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37360" y="27889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28 – May 23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0" y="27889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DeepLabV3+, </a:t>
            </a:r>
            <a:r>
              <a:rPr lang="en-US" sz="1050" b="1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SegFormer</a:t>
            </a:r>
            <a:r>
              <a:rPr lang="en-US" sz="105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methods drafting</a:t>
            </a:r>
            <a:endParaRPr lang="en-US" sz="1050" b="1" dirty="0"/>
          </a:p>
        </p:txBody>
      </p:sp>
      <p:sp>
        <p:nvSpPr>
          <p:cNvPr id="28" name="Shape 26"/>
          <p:cNvSpPr/>
          <p:nvPr/>
        </p:nvSpPr>
        <p:spPr>
          <a:xfrm>
            <a:off x="502920" y="3328416"/>
            <a:ext cx="8321040" cy="502920"/>
          </a:xfrm>
          <a:prstGeom prst="rect">
            <a:avLst/>
          </a:prstGeom>
          <a:solidFill>
            <a:srgbClr val="FFF8E8"/>
          </a:solidFill>
          <a:ln w="12700">
            <a:solidFill>
              <a:srgbClr val="C49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594360" y="3511296"/>
            <a:ext cx="164592" cy="164592"/>
          </a:xfrm>
          <a:prstGeom prst="ellipse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04672" y="332841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13–16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37360" y="33284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26 – Jun 20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00400" y="332841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Profiler-driven HPC inference </a:t>
            </a:r>
            <a:r>
              <a:rPr lang="en-US" sz="1050" dirty="0" err="1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results drafting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3867912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94360" y="4050792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804672" y="386791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17–19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737360" y="38679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23 – Jul 11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0" y="3867912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evaluation; full-region inference benchmark + discussion drafting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02920" y="4407408"/>
            <a:ext cx="83210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94360" y="4590288"/>
            <a:ext cx="164592" cy="164592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04672" y="44074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20–24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737360" y="440740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 – Aug 15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200400" y="44074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revision, consolidation &amp; submission</a:t>
            </a:r>
            <a:endParaRPr lang="en-US" sz="105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42122DC8-B670-A297-3B6F-193EA3A8C501}"/>
              </a:ext>
            </a:extLst>
          </p:cNvPr>
          <p:cNvSpPr/>
          <p:nvPr/>
        </p:nvSpPr>
        <p:spPr>
          <a:xfrm>
            <a:off x="8092440" y="29260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 rot="16200000">
            <a:off x="594360" y="2971800"/>
            <a:ext cx="164592" cy="1645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ACFCCB41-64C7-67A3-81D1-B56653489FD8}"/>
              </a:ext>
            </a:extLst>
          </p:cNvPr>
          <p:cNvSpPr/>
          <p:nvPr/>
        </p:nvSpPr>
        <p:spPr>
          <a:xfrm>
            <a:off x="594360" y="2407158"/>
            <a:ext cx="164592" cy="16459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8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BF1D234-1507-4967-9F2B-18ADC432EEC4}">
  <we:reference id="wa200005566" version="3.0.1.2" store="en-US" storeType="OMEX"/>
  <we:alternateReferences>
    <we:reference id="wa200005566" version="3.0.1.2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1407</TotalTime>
  <Words>848</Words>
  <Application>Microsoft Office PowerPoint</Application>
  <PresentationFormat>On-screen Show (16:9)</PresentationFormat>
  <Paragraphs>177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Detection of Mesopotamian Tell Sites</dc:title>
  <dc:subject>PptxGenJS Presentation</dc:subject>
  <dc:creator>PptxGenJS</dc:creator>
  <cp:lastModifiedBy>Nabeel Ahsan</cp:lastModifiedBy>
  <cp:revision>44</cp:revision>
  <dcterms:created xsi:type="dcterms:W3CDTF">2026-05-05T23:52:40Z</dcterms:created>
  <dcterms:modified xsi:type="dcterms:W3CDTF">2026-06-09T09:25:39Z</dcterms:modified>
</cp:coreProperties>
</file>